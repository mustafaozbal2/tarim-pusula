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  <p:sldMasterId id="2147483750" r:id="rId2"/>
  </p:sldMasterIdLst>
  <p:sldIdLst>
    <p:sldId id="278" r:id="rId3"/>
    <p:sldId id="275" r:id="rId4"/>
    <p:sldId id="271" r:id="rId5"/>
    <p:sldId id="273" r:id="rId6"/>
    <p:sldId id="292" r:id="rId7"/>
    <p:sldId id="293" r:id="rId8"/>
    <p:sldId id="287" r:id="rId9"/>
    <p:sldId id="272" r:id="rId10"/>
    <p:sldId id="279" r:id="rId11"/>
    <p:sldId id="261" r:id="rId12"/>
    <p:sldId id="263" r:id="rId13"/>
    <p:sldId id="291" r:id="rId14"/>
    <p:sldId id="281" r:id="rId15"/>
    <p:sldId id="282" r:id="rId16"/>
    <p:sldId id="294" r:id="rId17"/>
    <p:sldId id="290" r:id="rId18"/>
    <p:sldId id="289" r:id="rId19"/>
    <p:sldId id="285" r:id="rId20"/>
    <p:sldId id="28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İbrahim Demirli" initials="İD" lastIdx="1" clrIdx="0">
    <p:extLst>
      <p:ext uri="{19B8F6BF-5375-455C-9EA6-DF929625EA0E}">
        <p15:presenceInfo xmlns:p15="http://schemas.microsoft.com/office/powerpoint/2012/main" userId="İbrahim Demirl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6"/>
    <a:srgbClr val="BAAE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35FB4-F45C-41E7-BB97-B347DE081FED}" type="datetimeFigureOut">
              <a:rPr lang="tr-TR" smtClean="0"/>
              <a:t>2.03.2026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F1C1-770B-4D3A-A49D-8A811328EB3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9140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35FB4-F45C-41E7-BB97-B347DE081FED}" type="datetimeFigureOut">
              <a:rPr lang="tr-TR" smtClean="0"/>
              <a:t>2.03.2026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F1C1-770B-4D3A-A49D-8A811328EB3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96256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35FB4-F45C-41E7-BB97-B347DE081FED}" type="datetimeFigureOut">
              <a:rPr lang="tr-TR" smtClean="0"/>
              <a:t>2.03.2026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F1C1-770B-4D3A-A49D-8A811328EB3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80299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35FB4-F45C-41E7-BB97-B347DE081FED}" type="datetimeFigureOut">
              <a:rPr lang="tr-TR" smtClean="0"/>
              <a:t>2.03.2026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F1C1-770B-4D3A-A49D-8A811328EB3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1184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35FB4-F45C-41E7-BB97-B347DE081FED}" type="datetimeFigureOut">
              <a:rPr lang="tr-TR" smtClean="0"/>
              <a:t>2.03.2026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F1C1-770B-4D3A-A49D-8A811328EB3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50016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35FB4-F45C-41E7-BB97-B347DE081FED}" type="datetimeFigureOut">
              <a:rPr lang="tr-TR" smtClean="0"/>
              <a:t>2.03.2026</a:t>
            </a:fld>
            <a:endParaRPr lang="tr-T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F1C1-770B-4D3A-A49D-8A811328EB3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65472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35FB4-F45C-41E7-BB97-B347DE081FED}" type="datetimeFigureOut">
              <a:rPr lang="tr-TR" smtClean="0"/>
              <a:t>2.03.2026</a:t>
            </a:fld>
            <a:endParaRPr lang="tr-T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F1C1-770B-4D3A-A49D-8A811328EB3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04930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35FB4-F45C-41E7-BB97-B347DE081FED}" type="datetimeFigureOut">
              <a:rPr lang="tr-TR" smtClean="0"/>
              <a:t>2.03.2026</a:t>
            </a:fld>
            <a:endParaRPr lang="tr-T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F1C1-770B-4D3A-A49D-8A811328EB3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2989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35FB4-F45C-41E7-BB97-B347DE081FED}" type="datetimeFigureOut">
              <a:rPr lang="tr-TR" smtClean="0"/>
              <a:t>2.03.2026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F1C1-770B-4D3A-A49D-8A811328EB3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25765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35FB4-F45C-41E7-BB97-B347DE081FED}" type="datetimeFigureOut">
              <a:rPr lang="tr-TR" smtClean="0"/>
              <a:t>2.03.2026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F1C1-770B-4D3A-A49D-8A811328EB3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76567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35FB4-F45C-41E7-BB97-B347DE081FED}" type="datetimeFigureOut">
              <a:rPr lang="tr-TR" smtClean="0"/>
              <a:t>2.03.2026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F1C1-770B-4D3A-A49D-8A811328EB3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33644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tr-TR" smtClean="0"/>
              <a:t>Asıl metin stillerini düzenle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35FB4-F45C-41E7-BB97-B347DE081FED}" type="datetimeFigureOut">
              <a:rPr lang="tr-TR" smtClean="0"/>
              <a:t>2.03.2026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F1C1-770B-4D3A-A49D-8A811328EB37}" type="slidenum">
              <a:rPr lang="tr-TR" smtClean="0"/>
              <a:t>‹#›</a:t>
            </a:fld>
            <a:endParaRPr lang="tr-T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02161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35FB4-F45C-41E7-BB97-B347DE081FED}" type="datetimeFigureOut">
              <a:rPr lang="tr-TR" smtClean="0"/>
              <a:t>2.03.2026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F1C1-770B-4D3A-A49D-8A811328EB3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453109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35FB4-F45C-41E7-BB97-B347DE081FED}" type="datetimeFigureOut">
              <a:rPr lang="tr-TR" smtClean="0"/>
              <a:t>2.03.2026</a:t>
            </a:fld>
            <a:endParaRPr lang="tr-T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F1C1-770B-4D3A-A49D-8A811328EB3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439407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35FB4-F45C-41E7-BB97-B347DE081FED}" type="datetimeFigureOut">
              <a:rPr lang="tr-TR" smtClean="0"/>
              <a:t>2.03.2026</a:t>
            </a:fld>
            <a:endParaRPr lang="tr-T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F1C1-770B-4D3A-A49D-8A811328EB3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956255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35FB4-F45C-41E7-BB97-B347DE081FED}" type="datetimeFigureOut">
              <a:rPr lang="tr-TR" smtClean="0"/>
              <a:t>2.03.2026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F1C1-770B-4D3A-A49D-8A811328EB3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326501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35FB4-F45C-41E7-BB97-B347DE081FED}" type="datetimeFigureOut">
              <a:rPr lang="tr-TR" smtClean="0"/>
              <a:t>2.03.2026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F1C1-770B-4D3A-A49D-8A811328EB3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232907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35FB4-F45C-41E7-BB97-B347DE081FED}" type="datetimeFigureOut">
              <a:rPr lang="tr-TR" smtClean="0"/>
              <a:t>2.03.2026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F1C1-770B-4D3A-A49D-8A811328EB3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408712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35FB4-F45C-41E7-BB97-B347DE081FED}" type="datetimeFigureOut">
              <a:rPr lang="tr-TR" smtClean="0"/>
              <a:t>2.03.2026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F1C1-770B-4D3A-A49D-8A811328EB3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51044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35FB4-F45C-41E7-BB97-B347DE081FED}" type="datetimeFigureOut">
              <a:rPr lang="tr-TR" smtClean="0"/>
              <a:t>2.03.2026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F1C1-770B-4D3A-A49D-8A811328EB3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229978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35FB4-F45C-41E7-BB97-B347DE081FED}" type="datetimeFigureOut">
              <a:rPr lang="tr-TR" smtClean="0"/>
              <a:t>2.03.2026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F1C1-770B-4D3A-A49D-8A811328EB3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341197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35FB4-F45C-41E7-BB97-B347DE081FED}" type="datetimeFigureOut">
              <a:rPr lang="tr-TR" smtClean="0"/>
              <a:t>2.03.2026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F1C1-770B-4D3A-A49D-8A811328EB3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582275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35FB4-F45C-41E7-BB97-B347DE081FED}" type="datetimeFigureOut">
              <a:rPr lang="tr-TR" smtClean="0"/>
              <a:t>2.03.2026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F1C1-770B-4D3A-A49D-8A811328EB3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544663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35FB4-F45C-41E7-BB97-B347DE081FED}" type="datetimeFigureOut">
              <a:rPr lang="tr-TR" smtClean="0"/>
              <a:t>2.03.2026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F1C1-770B-4D3A-A49D-8A811328EB3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225483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35FB4-F45C-41E7-BB97-B347DE081FED}" type="datetimeFigureOut">
              <a:rPr lang="tr-TR" smtClean="0"/>
              <a:t>2.03.2026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F1C1-770B-4D3A-A49D-8A811328EB3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390896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35FB4-F45C-41E7-BB97-B347DE081FED}" type="datetimeFigureOut">
              <a:rPr lang="tr-TR" smtClean="0"/>
              <a:t>2.03.2026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F1C1-770B-4D3A-A49D-8A811328EB3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297724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35FB4-F45C-41E7-BB97-B347DE081FED}" type="datetimeFigureOut">
              <a:rPr lang="tr-TR" smtClean="0"/>
              <a:t>2.03.2026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F1C1-770B-4D3A-A49D-8A811328EB3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32682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35FB4-F45C-41E7-BB97-B347DE081FED}" type="datetimeFigureOut">
              <a:rPr lang="tr-TR" smtClean="0"/>
              <a:t>2.03.2026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F1C1-770B-4D3A-A49D-8A811328EB3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44931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6135FB4-F45C-41E7-BB97-B347DE081FED}" type="datetimeFigureOut">
              <a:rPr lang="tr-TR" smtClean="0"/>
              <a:t>2.03.2026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21F1C1-770B-4D3A-A49D-8A811328EB3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05906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35FB4-F45C-41E7-BB97-B347DE081FED}" type="datetimeFigureOut">
              <a:rPr lang="tr-TR" smtClean="0"/>
              <a:t>2.03.2026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21F1C1-770B-4D3A-A49D-8A811328EB3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33859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2000"/>
            <a:lum/>
          </a:blip>
          <a:srcRect/>
          <a:stretch>
            <a:fillRect t="-38000" b="-3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>
            <a:extLst>
              <a:ext uri="{FF2B5EF4-FFF2-40B4-BE49-F238E27FC236}">
                <a16:creationId xmlns:a16="http://schemas.microsoft.com/office/drawing/2014/main" id="{069EA301-A9F4-F216-0E43-7E1C75635960}"/>
              </a:ext>
            </a:extLst>
          </p:cNvPr>
          <p:cNvSpPr/>
          <p:nvPr/>
        </p:nvSpPr>
        <p:spPr>
          <a:xfrm>
            <a:off x="2989908" y="1924115"/>
            <a:ext cx="6514989" cy="409342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5200" b="1" i="0" u="none" strike="noStrike" kern="1200" cap="none" spc="0" normalizeH="0" baseline="0" noProof="0" dirty="0">
              <a:ln w="9525">
                <a:solidFill>
                  <a:prstClr val="white"/>
                </a:solidFill>
                <a:prstDash val="solid"/>
              </a:ln>
              <a:solidFill>
                <a:prstClr val="black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52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prstClr val="black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AKILLI ÇİFTÇİ ASİSTANI </a:t>
            </a:r>
            <a:endParaRPr kumimoji="0" lang="tr-TR" sz="5200" b="1" i="0" u="none" strike="noStrike" kern="1200" cap="none" spc="0" normalizeH="0" baseline="0" noProof="0" dirty="0" smtClean="0">
              <a:ln w="9525">
                <a:solidFill>
                  <a:prstClr val="white"/>
                </a:solidFill>
                <a:prstDash val="solid"/>
              </a:ln>
              <a:solidFill>
                <a:prstClr val="black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52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prstClr val="black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tr-TR" sz="5200" b="1" i="0" u="none" strike="noStrike" kern="1200" cap="none" spc="0" normalizeH="0" baseline="0" noProof="0" dirty="0" smtClean="0">
                <a:ln w="9525">
                  <a:solidFill>
                    <a:prstClr val="white"/>
                  </a:solidFill>
                  <a:prstDash val="solid"/>
                </a:ln>
                <a:solidFill>
                  <a:prstClr val="black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TARIM </a:t>
            </a:r>
            <a:r>
              <a:rPr kumimoji="0" lang="tr-TR" sz="52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prstClr val="black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PUSULA)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5200" b="1" i="0" u="none" strike="noStrike" kern="1200" cap="none" spc="0" normalizeH="0" baseline="0" noProof="0" dirty="0">
              <a:ln w="9525">
                <a:solidFill>
                  <a:prstClr val="white"/>
                </a:solidFill>
                <a:prstDash val="solid"/>
              </a:ln>
              <a:solidFill>
                <a:prstClr val="black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5200" b="1" i="0" u="none" strike="noStrike" kern="1200" cap="none" spc="0" normalizeH="0" baseline="0" noProof="0" dirty="0">
              <a:ln w="9525">
                <a:solidFill>
                  <a:prstClr val="white"/>
                </a:solidFill>
                <a:prstDash val="solid"/>
              </a:ln>
              <a:solidFill>
                <a:prstClr val="black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6112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320" y="1214202"/>
            <a:ext cx="10073391" cy="51416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767" y="1319133"/>
            <a:ext cx="3047075" cy="5036695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49" y="253666"/>
            <a:ext cx="10178323" cy="715784"/>
          </a:xfrm>
          <a:prstGeom prst="rect">
            <a:avLst/>
          </a:prstGeom>
          <a:ln>
            <a:noFill/>
          </a:ln>
          <a:effectLst>
            <a:innerShdw blurRad="114300">
              <a:prstClr val="black"/>
            </a:innerShdw>
          </a:effectLst>
        </p:spPr>
      </p:pic>
      <p:sp>
        <p:nvSpPr>
          <p:cNvPr id="6" name="Dikdörtgen 5"/>
          <p:cNvSpPr/>
          <p:nvPr/>
        </p:nvSpPr>
        <p:spPr>
          <a:xfrm>
            <a:off x="1034320" y="372480"/>
            <a:ext cx="10094430" cy="49244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r-TR" sz="2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TARIM PUSULA: BİR MOBİL UYGULAMADAN ÇOK DAHA FAZLASI</a:t>
            </a:r>
            <a:endParaRPr lang="tr-TR" sz="26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448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68" y="1214203"/>
            <a:ext cx="10077618" cy="521235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68" y="241475"/>
            <a:ext cx="10077618" cy="715784"/>
          </a:xfrm>
          <a:prstGeom prst="rect">
            <a:avLst/>
          </a:prstGeom>
          <a:ln>
            <a:noFill/>
          </a:ln>
          <a:effectLst>
            <a:innerShdw blurRad="114300">
              <a:prstClr val="black"/>
            </a:innerShdw>
          </a:effectLst>
        </p:spPr>
      </p:pic>
      <p:sp>
        <p:nvSpPr>
          <p:cNvPr id="4" name="Dikdörtgen 3"/>
          <p:cNvSpPr/>
          <p:nvPr/>
        </p:nvSpPr>
        <p:spPr>
          <a:xfrm>
            <a:off x="2333050" y="309528"/>
            <a:ext cx="732604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r-TR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SLOGAN: BİLİNÇLİ TARIM VERİMLİ ÜRETİM</a:t>
            </a:r>
            <a:endParaRPr lang="tr-TR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30422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 rotWithShape="1">
          <a:blip r:embed="rId2"/>
          <a:srcRect t="7642"/>
          <a:stretch/>
        </p:blipFill>
        <p:spPr>
          <a:xfrm>
            <a:off x="978793" y="1249250"/>
            <a:ext cx="10187189" cy="5293219"/>
          </a:xfrm>
          <a:prstGeom prst="roundRect">
            <a:avLst>
              <a:gd name="adj" fmla="val 7422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794" y="228596"/>
            <a:ext cx="10187188" cy="715784"/>
          </a:xfrm>
          <a:prstGeom prst="rect">
            <a:avLst/>
          </a:prstGeom>
          <a:ln>
            <a:noFill/>
          </a:ln>
          <a:effectLst>
            <a:innerShdw blurRad="114300">
              <a:prstClr val="black"/>
            </a:innerShdw>
          </a:effectLst>
        </p:spPr>
      </p:pic>
      <p:sp>
        <p:nvSpPr>
          <p:cNvPr id="4" name="Dikdörtgen 3"/>
          <p:cNvSpPr/>
          <p:nvPr/>
        </p:nvSpPr>
        <p:spPr>
          <a:xfrm>
            <a:off x="2471279" y="309528"/>
            <a:ext cx="693811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r-TR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TÜRKİYE TARIMSAL ÜRETİM İSTATİSTİKLERİ</a:t>
            </a:r>
            <a:endParaRPr lang="tr-TR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82719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796" y="1249249"/>
            <a:ext cx="4827906" cy="5190188"/>
          </a:xfrm>
          <a:prstGeom prst="roundRect">
            <a:avLst>
              <a:gd name="adj" fmla="val 6193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249249"/>
            <a:ext cx="4819650" cy="5190187"/>
          </a:xfrm>
          <a:prstGeom prst="roundRect">
            <a:avLst>
              <a:gd name="adj" fmla="val 6723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796" y="228596"/>
            <a:ext cx="10053550" cy="715784"/>
          </a:xfrm>
          <a:prstGeom prst="rect">
            <a:avLst/>
          </a:prstGeom>
          <a:ln>
            <a:noFill/>
          </a:ln>
          <a:effectLst>
            <a:innerShdw blurRad="114300">
              <a:prstClr val="black"/>
            </a:innerShdw>
          </a:effectLst>
        </p:spPr>
      </p:pic>
      <p:sp>
        <p:nvSpPr>
          <p:cNvPr id="6" name="Dikdörtgen 5"/>
          <p:cNvSpPr/>
          <p:nvPr/>
        </p:nvSpPr>
        <p:spPr>
          <a:xfrm>
            <a:off x="1073796" y="309528"/>
            <a:ext cx="925876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tr-TR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PROBLEM: TARIMDA VERİMLİLİĞİN DÜŞÜK OLMASI</a:t>
            </a:r>
            <a:endParaRPr lang="tr-TR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87671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946" y="1416676"/>
            <a:ext cx="10045522" cy="4662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946" y="746691"/>
            <a:ext cx="10045522" cy="54119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Resim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946" y="6215270"/>
            <a:ext cx="10045522" cy="50358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946" y="141104"/>
            <a:ext cx="10045522" cy="478293"/>
          </a:xfrm>
          <a:prstGeom prst="roundRect">
            <a:avLst>
              <a:gd name="adj" fmla="val 17998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188749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603" y="334039"/>
            <a:ext cx="10382864" cy="17811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Resim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45332" y="2386761"/>
            <a:ext cx="2969135" cy="4250029"/>
          </a:xfrm>
          <a:prstGeom prst="roundRect">
            <a:avLst>
              <a:gd name="adj" fmla="val 625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Resim 5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05832" y="2403171"/>
            <a:ext cx="2887081" cy="4233619"/>
          </a:xfrm>
          <a:prstGeom prst="roundRect">
            <a:avLst>
              <a:gd name="adj" fmla="val 5069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Resim 6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603" y="2386761"/>
            <a:ext cx="3021811" cy="4217210"/>
          </a:xfrm>
          <a:prstGeom prst="roundRect">
            <a:avLst>
              <a:gd name="adj" fmla="val 516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505109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9474" y="4184093"/>
            <a:ext cx="2754930" cy="2293979"/>
          </a:xfrm>
          <a:prstGeom prst="rect">
            <a:avLst/>
          </a:prstGeom>
        </p:spPr>
      </p:pic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014" y="4248489"/>
            <a:ext cx="5172075" cy="205725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1014" y="1107582"/>
            <a:ext cx="5286375" cy="206849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0837" y="1107581"/>
            <a:ext cx="2591503" cy="2068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745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Resim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04" y="1236372"/>
            <a:ext cx="10032644" cy="51579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704" y="228596"/>
            <a:ext cx="10032644" cy="715784"/>
          </a:xfrm>
          <a:prstGeom prst="rect">
            <a:avLst/>
          </a:prstGeom>
          <a:ln>
            <a:noFill/>
          </a:ln>
          <a:effectLst>
            <a:innerShdw blurRad="114300">
              <a:prstClr val="black"/>
            </a:innerShdw>
          </a:effectLst>
        </p:spPr>
      </p:pic>
      <p:sp>
        <p:nvSpPr>
          <p:cNvPr id="4" name="Dikdörtgen 3"/>
          <p:cNvSpPr/>
          <p:nvPr/>
        </p:nvSpPr>
        <p:spPr>
          <a:xfrm>
            <a:off x="1028418" y="348165"/>
            <a:ext cx="974657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r-TR" sz="24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TARIMA YÖN VEREN KURUMLARI BİR ARAYA GETİREN BİR SİSTEM</a:t>
            </a:r>
            <a:endParaRPr lang="tr-TR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64177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Resim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9068" y="334979"/>
            <a:ext cx="4899479" cy="561975"/>
          </a:xfrm>
          <a:prstGeom prst="rect">
            <a:avLst/>
          </a:prstGeom>
          <a:ln>
            <a:noFill/>
          </a:ln>
          <a:effectLst>
            <a:innerShdw blurRad="114300">
              <a:prstClr val="black"/>
            </a:innerShdw>
          </a:effectLst>
        </p:spPr>
      </p:pic>
      <p:pic>
        <p:nvPicPr>
          <p:cNvPr id="2" name="Resi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776" y="1215875"/>
            <a:ext cx="4738256" cy="532623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387" y="1215876"/>
            <a:ext cx="4854632" cy="532623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585" y="363248"/>
            <a:ext cx="4796447" cy="561975"/>
          </a:xfrm>
          <a:prstGeom prst="rect">
            <a:avLst/>
          </a:prstGeom>
          <a:ln>
            <a:noFill/>
          </a:ln>
          <a:effectLst>
            <a:innerShdw blurRad="114300">
              <a:prstClr val="black"/>
            </a:innerShdw>
          </a:effectLst>
        </p:spPr>
      </p:pic>
      <p:sp>
        <p:nvSpPr>
          <p:cNvPr id="11" name="Dikdörtgen 10"/>
          <p:cNvSpPr/>
          <p:nvPr/>
        </p:nvSpPr>
        <p:spPr>
          <a:xfrm>
            <a:off x="1355162" y="444180"/>
            <a:ext cx="382348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r-TR" sz="175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ARAZİ ÜRÜN VE KONUM BİLGİLERİ</a:t>
            </a:r>
            <a:endParaRPr lang="tr-TR" sz="175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6209102" y="427981"/>
            <a:ext cx="495520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r-TR" sz="175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YAPILMASI GEREKEN TARIMSAL FAALİYETLER</a:t>
            </a:r>
            <a:endParaRPr lang="tr-TR" sz="175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2855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629" y="1039090"/>
            <a:ext cx="4134891" cy="550503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86" y="1039090"/>
            <a:ext cx="4320130" cy="550503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629" y="337490"/>
            <a:ext cx="4134891" cy="561975"/>
          </a:xfrm>
          <a:prstGeom prst="rect">
            <a:avLst/>
          </a:prstGeom>
          <a:ln>
            <a:noFill/>
          </a:ln>
          <a:effectLst>
            <a:innerShdw blurRad="114300">
              <a:prstClr val="black"/>
            </a:innerShdw>
          </a:effectLst>
        </p:spPr>
      </p:pic>
      <p:sp>
        <p:nvSpPr>
          <p:cNvPr id="13" name="Dikdörtgen 12"/>
          <p:cNvSpPr/>
          <p:nvPr/>
        </p:nvSpPr>
        <p:spPr>
          <a:xfrm>
            <a:off x="1633284" y="418422"/>
            <a:ext cx="326724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r-TR" sz="175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TARIMSAL</a:t>
            </a:r>
            <a:r>
              <a:rPr lang="tr-TR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FAALİYET TAKVİMİ</a:t>
            </a:r>
            <a:endParaRPr lang="tr-TR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107" y="337490"/>
            <a:ext cx="4384875" cy="561975"/>
          </a:xfrm>
          <a:prstGeom prst="rect">
            <a:avLst/>
          </a:prstGeom>
          <a:ln>
            <a:noFill/>
          </a:ln>
          <a:effectLst>
            <a:innerShdw blurRad="114300">
              <a:prstClr val="black"/>
            </a:innerShdw>
          </a:effectLst>
        </p:spPr>
      </p:pic>
      <p:sp>
        <p:nvSpPr>
          <p:cNvPr id="15" name="Dikdörtgen 14"/>
          <p:cNvSpPr/>
          <p:nvPr/>
        </p:nvSpPr>
        <p:spPr>
          <a:xfrm>
            <a:off x="6619740" y="418422"/>
            <a:ext cx="470078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tr-TR" sz="175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AKILLI CİHAZLARDAN GELEN BİLDİRİMLER</a:t>
            </a:r>
            <a:endParaRPr lang="tr-TR" sz="175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1206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Resi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629" y="337490"/>
            <a:ext cx="4134891" cy="561975"/>
          </a:xfrm>
          <a:prstGeom prst="rect">
            <a:avLst/>
          </a:prstGeom>
          <a:ln>
            <a:noFill/>
          </a:ln>
          <a:effectLst>
            <a:innerShdw blurRad="114300">
              <a:prstClr val="black"/>
            </a:innerShdw>
          </a:effectLst>
        </p:spPr>
      </p:pic>
      <p:sp>
        <p:nvSpPr>
          <p:cNvPr id="13" name="Dikdörtgen 12"/>
          <p:cNvSpPr/>
          <p:nvPr/>
        </p:nvSpPr>
        <p:spPr>
          <a:xfrm>
            <a:off x="1558748" y="418422"/>
            <a:ext cx="3416320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r-TR" sz="175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BİTKİ KATSAYISI (</a:t>
            </a:r>
            <a:r>
              <a:rPr lang="tr-TR" sz="1750" b="1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Kc</a:t>
            </a:r>
            <a:r>
              <a:rPr lang="tr-TR" sz="175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BİLGİLERİ</a:t>
            </a:r>
            <a:endParaRPr lang="tr-TR" sz="175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107" y="337490"/>
            <a:ext cx="4384875" cy="561975"/>
          </a:xfrm>
          <a:prstGeom prst="rect">
            <a:avLst/>
          </a:prstGeom>
          <a:ln>
            <a:noFill/>
          </a:ln>
          <a:effectLst>
            <a:innerShdw blurRad="114300">
              <a:prstClr val="black"/>
            </a:innerShdw>
          </a:effectLst>
        </p:spPr>
      </p:pic>
      <p:sp>
        <p:nvSpPr>
          <p:cNvPr id="15" name="Dikdörtgen 14"/>
          <p:cNvSpPr/>
          <p:nvPr/>
        </p:nvSpPr>
        <p:spPr>
          <a:xfrm>
            <a:off x="6619739" y="303006"/>
            <a:ext cx="4700788" cy="63094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tr-TR" sz="175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TARLA KAPASİTESİ VE SOLMA NOKTASI BİLGİLERİ</a:t>
            </a:r>
            <a:endParaRPr lang="tr-TR" sz="175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" name="Resim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458" y="1039090"/>
            <a:ext cx="4134891" cy="5505036"/>
          </a:xfrm>
          <a:prstGeom prst="rect">
            <a:avLst/>
          </a:prstGeom>
        </p:spPr>
      </p:pic>
      <p:pic>
        <p:nvPicPr>
          <p:cNvPr id="11" name="Resim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629" y="1039090"/>
            <a:ext cx="4333009" cy="5505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017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33" y="115970"/>
            <a:ext cx="3801230" cy="6625652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267" y="640079"/>
            <a:ext cx="7905497" cy="587709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85371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822" y="228596"/>
            <a:ext cx="7878408" cy="715784"/>
          </a:xfrm>
          <a:prstGeom prst="rect">
            <a:avLst/>
          </a:prstGeom>
          <a:ln>
            <a:noFill/>
          </a:ln>
          <a:effectLst>
            <a:innerShdw blurRad="114300">
              <a:prstClr val="black"/>
            </a:innerShdw>
          </a:effectLst>
        </p:spPr>
      </p:pic>
      <p:sp>
        <p:nvSpPr>
          <p:cNvPr id="6" name="Dikdörtgen 5"/>
          <p:cNvSpPr/>
          <p:nvPr/>
        </p:nvSpPr>
        <p:spPr>
          <a:xfrm>
            <a:off x="2884869" y="371044"/>
            <a:ext cx="6555346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tr-TR" sz="24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PROJEMİZE BENZER ÇALIŞMALAR</a:t>
            </a:r>
            <a:endParaRPr lang="tr-TR" sz="24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822" y="1381193"/>
            <a:ext cx="7878408" cy="4791075"/>
          </a:xfrm>
          <a:prstGeom prst="roundRect">
            <a:avLst>
              <a:gd name="adj" fmla="val 914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339868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Dikdörtgen 34"/>
          <p:cNvSpPr/>
          <p:nvPr/>
        </p:nvSpPr>
        <p:spPr>
          <a:xfrm>
            <a:off x="314793" y="1177481"/>
            <a:ext cx="11604892" cy="2415724"/>
          </a:xfrm>
          <a:prstGeom prst="rect">
            <a:avLst/>
          </a:prstGeom>
          <a:solidFill>
            <a:srgbClr val="F79646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0" cap="none" spc="0" normalizeH="0" baseline="0" noProof="0" smtClean="0">
              <a:ln w="0"/>
              <a:solidFill>
                <a:srgbClr val="5B9BD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Dikdörtgen 4"/>
          <p:cNvSpPr/>
          <p:nvPr/>
        </p:nvSpPr>
        <p:spPr>
          <a:xfrm>
            <a:off x="314793" y="4321602"/>
            <a:ext cx="11604892" cy="1339370"/>
          </a:xfrm>
          <a:prstGeom prst="rect">
            <a:avLst/>
          </a:prstGeom>
          <a:solidFill>
            <a:srgbClr val="F79646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0" cap="none" spc="0" normalizeH="0" baseline="0" noProof="0" smtClean="0">
              <a:ln w="0"/>
              <a:solidFill>
                <a:srgbClr val="5B9BD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Yuvarlatılmış Dikdörtgen 6"/>
          <p:cNvSpPr/>
          <p:nvPr/>
        </p:nvSpPr>
        <p:spPr>
          <a:xfrm>
            <a:off x="8638843" y="1465660"/>
            <a:ext cx="2783066" cy="1802408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rgbClr val="0070C0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7891523" y="1877959"/>
            <a:ext cx="747320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88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3" name="Dikdörtgen 12"/>
          <p:cNvSpPr/>
          <p:nvPr/>
        </p:nvSpPr>
        <p:spPr>
          <a:xfrm>
            <a:off x="8722586" y="2071001"/>
            <a:ext cx="2565007" cy="12618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40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tr-TR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Akıllı Tarım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Sistemleri</a:t>
            </a:r>
          </a:p>
        </p:txBody>
      </p:sp>
      <p:sp>
        <p:nvSpPr>
          <p:cNvPr id="16" name="Dikdörtgen 15"/>
          <p:cNvSpPr/>
          <p:nvPr/>
        </p:nvSpPr>
        <p:spPr>
          <a:xfrm>
            <a:off x="9351859" y="1330750"/>
            <a:ext cx="15888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5400" b="1" i="0" u="none" strike="noStrike" kern="1200" cap="none" spc="0" normalizeH="0" baseline="0" noProof="0" dirty="0">
                <a:ln/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2023</a:t>
            </a: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10135555" y="3341542"/>
            <a:ext cx="10751" cy="1286689"/>
          </a:xfrm>
          <a:prstGeom prst="straightConnector1">
            <a:avLst/>
          </a:prstGeom>
          <a:noFill/>
          <a:ln w="508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7" name="Yuvarlatılmış Dikdörtgen 26"/>
          <p:cNvSpPr/>
          <p:nvPr/>
        </p:nvSpPr>
        <p:spPr>
          <a:xfrm>
            <a:off x="481817" y="1500497"/>
            <a:ext cx="7459320" cy="1802408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rgbClr val="0070C0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Dikdörtgen 8"/>
          <p:cNvSpPr/>
          <p:nvPr/>
        </p:nvSpPr>
        <p:spPr>
          <a:xfrm>
            <a:off x="4744998" y="2041021"/>
            <a:ext cx="3104653" cy="12618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40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tr-TR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Akıllı Tarımsal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Faaliyet Takvimi</a:t>
            </a:r>
          </a:p>
        </p:txBody>
      </p:sp>
      <p:sp>
        <p:nvSpPr>
          <p:cNvPr id="10" name="Dikdörtgen 9"/>
          <p:cNvSpPr/>
          <p:nvPr/>
        </p:nvSpPr>
        <p:spPr>
          <a:xfrm>
            <a:off x="533949" y="2041021"/>
            <a:ext cx="3342805" cy="12618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40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tr-TR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Tarımsal Üretim Planlama Sistemi</a:t>
            </a:r>
          </a:p>
        </p:txBody>
      </p:sp>
      <p:sp>
        <p:nvSpPr>
          <p:cNvPr id="11" name="Dikdörtgen 10"/>
          <p:cNvSpPr/>
          <p:nvPr/>
        </p:nvSpPr>
        <p:spPr>
          <a:xfrm>
            <a:off x="3913935" y="1888728"/>
            <a:ext cx="747320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88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4" name="Dikdörtgen 13"/>
          <p:cNvSpPr/>
          <p:nvPr/>
        </p:nvSpPr>
        <p:spPr>
          <a:xfrm>
            <a:off x="1552069" y="1333213"/>
            <a:ext cx="16145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5400" b="1" i="0" u="none" strike="noStrike" kern="1200" cap="none" spc="0" normalizeH="0" baseline="0" noProof="0" dirty="0">
                <a:ln/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2021</a:t>
            </a:r>
          </a:p>
        </p:txBody>
      </p:sp>
      <p:sp>
        <p:nvSpPr>
          <p:cNvPr id="15" name="Dikdörtgen 14"/>
          <p:cNvSpPr/>
          <p:nvPr/>
        </p:nvSpPr>
        <p:spPr>
          <a:xfrm>
            <a:off x="5602434" y="1344048"/>
            <a:ext cx="15888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5400" b="1" i="0" u="none" strike="noStrike" kern="1200" cap="none" spc="0" normalizeH="0" baseline="0" noProof="0" dirty="0">
                <a:ln/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2022</a:t>
            </a:r>
          </a:p>
        </p:txBody>
      </p:sp>
      <p:cxnSp>
        <p:nvCxnSpPr>
          <p:cNvPr id="23" name="Düz Ok Bağlayıcısı 22"/>
          <p:cNvCxnSpPr/>
          <p:nvPr/>
        </p:nvCxnSpPr>
        <p:spPr>
          <a:xfrm>
            <a:off x="6396882" y="3341542"/>
            <a:ext cx="0" cy="1269306"/>
          </a:xfrm>
          <a:prstGeom prst="straightConnector1">
            <a:avLst/>
          </a:prstGeom>
          <a:noFill/>
          <a:ln w="508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6" name="Düz Ok Bağlayıcısı 25">
            <a:extLst>
              <a:ext uri="{FF2B5EF4-FFF2-40B4-BE49-F238E27FC236}">
                <a16:creationId xmlns:a16="http://schemas.microsoft.com/office/drawing/2014/main" id="{1B957328-A541-581F-C66F-348C37C929B8}"/>
              </a:ext>
            </a:extLst>
          </p:cNvPr>
          <p:cNvCxnSpPr/>
          <p:nvPr/>
        </p:nvCxnSpPr>
        <p:spPr>
          <a:xfrm>
            <a:off x="2219878" y="3332463"/>
            <a:ext cx="0" cy="1269306"/>
          </a:xfrm>
          <a:prstGeom prst="straightConnector1">
            <a:avLst/>
          </a:prstGeom>
          <a:noFill/>
          <a:ln w="508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8" name="Yuvarlatılmış Dikdörtgen 27"/>
          <p:cNvSpPr/>
          <p:nvPr/>
        </p:nvSpPr>
        <p:spPr>
          <a:xfrm>
            <a:off x="8524753" y="4673568"/>
            <a:ext cx="3263447" cy="646331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rgbClr val="0070C0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Yuvarlatılmış Dikdörtgen 28"/>
          <p:cNvSpPr/>
          <p:nvPr/>
        </p:nvSpPr>
        <p:spPr>
          <a:xfrm>
            <a:off x="453124" y="4679370"/>
            <a:ext cx="7417447" cy="646331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rgbClr val="0070C0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385776" y="4666800"/>
            <a:ext cx="363914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Planlama</a:t>
            </a:r>
          </a:p>
        </p:txBody>
      </p:sp>
      <p:sp>
        <p:nvSpPr>
          <p:cNvPr id="19" name="Dikdörtgen 18"/>
          <p:cNvSpPr/>
          <p:nvPr/>
        </p:nvSpPr>
        <p:spPr>
          <a:xfrm>
            <a:off x="4477749" y="4666800"/>
            <a:ext cx="363914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Bilinçli Üretim</a:t>
            </a:r>
          </a:p>
        </p:txBody>
      </p:sp>
      <p:sp>
        <p:nvSpPr>
          <p:cNvPr id="20" name="Dikdörtgen 19"/>
          <p:cNvSpPr/>
          <p:nvPr/>
        </p:nvSpPr>
        <p:spPr>
          <a:xfrm>
            <a:off x="8326732" y="4679679"/>
            <a:ext cx="363914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Akıllı Teknolojiler</a:t>
            </a:r>
          </a:p>
        </p:txBody>
      </p:sp>
      <p:sp>
        <p:nvSpPr>
          <p:cNvPr id="21" name="Dikdörtgen 20"/>
          <p:cNvSpPr/>
          <p:nvPr/>
        </p:nvSpPr>
        <p:spPr>
          <a:xfrm>
            <a:off x="3965231" y="4299309"/>
            <a:ext cx="69602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80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22" name="Dikdörtgen 21"/>
          <p:cNvSpPr/>
          <p:nvPr/>
        </p:nvSpPr>
        <p:spPr>
          <a:xfrm>
            <a:off x="7828729" y="4298265"/>
            <a:ext cx="69602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80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pic>
        <p:nvPicPr>
          <p:cNvPr id="31" name="Resim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867" y="228596"/>
            <a:ext cx="6671257" cy="715784"/>
          </a:xfrm>
          <a:prstGeom prst="rect">
            <a:avLst/>
          </a:prstGeom>
          <a:ln>
            <a:noFill/>
          </a:ln>
          <a:effectLst>
            <a:innerShdw blurRad="114300">
              <a:prstClr val="black"/>
            </a:innerShdw>
          </a:effectLst>
        </p:spPr>
      </p:pic>
      <p:sp>
        <p:nvSpPr>
          <p:cNvPr id="32" name="Dikdörtgen 31"/>
          <p:cNvSpPr/>
          <p:nvPr/>
        </p:nvSpPr>
        <p:spPr>
          <a:xfrm>
            <a:off x="3159602" y="283770"/>
            <a:ext cx="548419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3600" b="1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   AKILLI ÇİFTÇİ ASİSTANI</a:t>
            </a:r>
            <a:endParaRPr kumimoji="0" lang="tr-TR" sz="3600" b="1" i="0" u="none" strike="noStrike" kern="1200" cap="none" spc="0" normalizeH="0" baseline="0" noProof="0" dirty="0">
              <a:ln w="0"/>
              <a:solidFill>
                <a:prstClr val="white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4" name="Dikdörtgen 33"/>
          <p:cNvSpPr/>
          <p:nvPr/>
        </p:nvSpPr>
        <p:spPr>
          <a:xfrm>
            <a:off x="2186988" y="6022833"/>
            <a:ext cx="799610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800" b="1" i="0" u="none" strike="noStrike" kern="1200" cap="none" spc="0" normalizeH="0" baseline="0" noProof="0" dirty="0" smtClean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   Bilgi ve Teknolojiye Dayalı Bir Üretim Modeli</a:t>
            </a:r>
            <a:endParaRPr kumimoji="0" lang="tr-TR" sz="2800" b="1" i="0" u="none" strike="noStrike" kern="1200" cap="none" spc="0" normalizeH="0" baseline="0" noProof="0" dirty="0">
              <a:ln w="0"/>
              <a:solidFill>
                <a:prstClr val="white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181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50" y="1238250"/>
            <a:ext cx="10051021" cy="5248811"/>
          </a:xfrm>
          <a:prstGeom prst="roundRect">
            <a:avLst>
              <a:gd name="adj" fmla="val 5378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704" y="228596"/>
            <a:ext cx="10032644" cy="715784"/>
          </a:xfrm>
          <a:prstGeom prst="rect">
            <a:avLst/>
          </a:prstGeom>
          <a:ln>
            <a:noFill/>
          </a:ln>
          <a:effectLst>
            <a:innerShdw blurRad="114300">
              <a:prstClr val="black"/>
            </a:innerShdw>
          </a:effectLst>
        </p:spPr>
      </p:pic>
      <p:sp>
        <p:nvSpPr>
          <p:cNvPr id="6" name="Dikdörtgen 5"/>
          <p:cNvSpPr/>
          <p:nvPr/>
        </p:nvSpPr>
        <p:spPr>
          <a:xfrm>
            <a:off x="1670858" y="371044"/>
            <a:ext cx="8944495" cy="4308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tr-TR" sz="22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PROJE FAALİYET ZAMAN ÇİZELGESİ  </a:t>
            </a:r>
            <a:r>
              <a:rPr lang="tr-TR" sz="2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(PROTOTİP AŞAMASI)</a:t>
            </a:r>
          </a:p>
        </p:txBody>
      </p:sp>
    </p:spTree>
    <p:extLst>
      <p:ext uri="{BB962C8B-B14F-4D97-AF65-F5344CB8AC3E}">
        <p14:creationId xmlns:p14="http://schemas.microsoft.com/office/powerpoint/2010/main" val="3994021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834" y="228596"/>
            <a:ext cx="8057323" cy="715784"/>
          </a:xfrm>
          <a:prstGeom prst="rect">
            <a:avLst/>
          </a:prstGeom>
          <a:ln>
            <a:noFill/>
          </a:ln>
          <a:effectLst>
            <a:innerShdw blurRad="114300">
              <a:prstClr val="black"/>
            </a:innerShdw>
          </a:effectLst>
        </p:spPr>
      </p:pic>
      <p:sp>
        <p:nvSpPr>
          <p:cNvPr id="6" name="Dikdörtgen 5"/>
          <p:cNvSpPr/>
          <p:nvPr/>
        </p:nvSpPr>
        <p:spPr>
          <a:xfrm>
            <a:off x="1619342" y="371044"/>
            <a:ext cx="894449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tr-TR" sz="24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PROJEMİZİN HAYATA GEÇİRİLMESİ</a:t>
            </a:r>
            <a:endParaRPr lang="tr-TR" sz="24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Yuvarlatılmış Dikdörtgen 1"/>
          <p:cNvSpPr/>
          <p:nvPr/>
        </p:nvSpPr>
        <p:spPr>
          <a:xfrm>
            <a:off x="2040834" y="1842052"/>
            <a:ext cx="8057323" cy="436556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Dikdörtgen 3"/>
          <p:cNvSpPr/>
          <p:nvPr/>
        </p:nvSpPr>
        <p:spPr>
          <a:xfrm>
            <a:off x="2708639" y="2555507"/>
            <a:ext cx="6960560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914400" indent="-914400">
              <a:buAutoNum type="arabicParenR"/>
            </a:pPr>
            <a:r>
              <a:rPr lang="tr-TR" sz="32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Kamu Yoluyla, </a:t>
            </a:r>
          </a:p>
          <a:p>
            <a:endParaRPr lang="tr-TR" sz="3200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742950" indent="-742950">
              <a:buAutoNum type="arabicParenR" startAt="2"/>
            </a:pPr>
            <a:r>
              <a:rPr lang="tr-TR" sz="32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Kamu </a:t>
            </a:r>
            <a:r>
              <a:rPr lang="tr-TR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Özel İşbirliği Modeli İ</a:t>
            </a:r>
            <a:r>
              <a:rPr lang="tr-TR" sz="32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</a:t>
            </a:r>
          </a:p>
          <a:p>
            <a:r>
              <a:rPr lang="tr-TR" sz="32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</a:p>
          <a:p>
            <a:r>
              <a:rPr lang="tr-TR" sz="32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3)    Özel </a:t>
            </a:r>
            <a:r>
              <a:rPr lang="tr-TR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</a:t>
            </a:r>
            <a:r>
              <a:rPr lang="tr-TR" sz="32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ektör </a:t>
            </a:r>
            <a:r>
              <a:rPr lang="tr-TR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</a:t>
            </a:r>
            <a:r>
              <a:rPr lang="tr-TR" sz="32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arafından</a:t>
            </a:r>
            <a:endParaRPr lang="tr-TR" sz="32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82035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o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384132"/>
              </p:ext>
            </p:extLst>
          </p:nvPr>
        </p:nvGraphicFramePr>
        <p:xfrm>
          <a:off x="1094705" y="1220409"/>
          <a:ext cx="10042166" cy="5229224"/>
        </p:xfrm>
        <a:graphic>
          <a:graphicData uri="http://schemas.openxmlformats.org/drawingml/2006/table">
            <a:tbl>
              <a:tblPr firstRow="1" firstCol="1" bandRow="1"/>
              <a:tblGrid>
                <a:gridCol w="3293822">
                  <a:extLst>
                    <a:ext uri="{9D8B030D-6E8A-4147-A177-3AD203B41FA5}">
                      <a16:colId xmlns:a16="http://schemas.microsoft.com/office/drawing/2014/main" val="2485819299"/>
                    </a:ext>
                  </a:extLst>
                </a:gridCol>
                <a:gridCol w="2042570">
                  <a:extLst>
                    <a:ext uri="{9D8B030D-6E8A-4147-A177-3AD203B41FA5}">
                      <a16:colId xmlns:a16="http://schemas.microsoft.com/office/drawing/2014/main" val="357473471"/>
                    </a:ext>
                  </a:extLst>
                </a:gridCol>
                <a:gridCol w="1099417">
                  <a:extLst>
                    <a:ext uri="{9D8B030D-6E8A-4147-A177-3AD203B41FA5}">
                      <a16:colId xmlns:a16="http://schemas.microsoft.com/office/drawing/2014/main" val="3084457922"/>
                    </a:ext>
                  </a:extLst>
                </a:gridCol>
                <a:gridCol w="1727815">
                  <a:extLst>
                    <a:ext uri="{9D8B030D-6E8A-4147-A177-3AD203B41FA5}">
                      <a16:colId xmlns:a16="http://schemas.microsoft.com/office/drawing/2014/main" val="2910502670"/>
                    </a:ext>
                  </a:extLst>
                </a:gridCol>
                <a:gridCol w="1878542">
                  <a:extLst>
                    <a:ext uri="{9D8B030D-6E8A-4147-A177-3AD203B41FA5}">
                      <a16:colId xmlns:a16="http://schemas.microsoft.com/office/drawing/2014/main" val="1347785357"/>
                    </a:ext>
                  </a:extLst>
                </a:gridCol>
              </a:tblGrid>
              <a:tr h="4753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14400" algn="l"/>
                        </a:tabLst>
                      </a:pPr>
                      <a:r>
                        <a:rPr lang="tr-TR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Malzeme / Hizmet Adı</a:t>
                      </a:r>
                      <a:endParaRPr lang="tr-T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14400" algn="l"/>
                        </a:tabLst>
                      </a:pPr>
                      <a:r>
                        <a:rPr lang="tr-TR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Harcama Dönemi</a:t>
                      </a:r>
                      <a:endParaRPr lang="tr-T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14400" algn="l"/>
                        </a:tabLst>
                      </a:pPr>
                      <a:r>
                        <a:rPr lang="tr-TR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Miktar</a:t>
                      </a:r>
                      <a:endParaRPr lang="tr-T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14400" algn="l"/>
                        </a:tabLst>
                      </a:pPr>
                      <a:r>
                        <a:rPr lang="tr-TR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Birim Maliyet</a:t>
                      </a:r>
                      <a:endParaRPr lang="tr-T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14400" algn="l"/>
                        </a:tabLst>
                      </a:pPr>
                      <a:r>
                        <a:rPr lang="tr-TR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Toplam Maliyet</a:t>
                      </a:r>
                      <a:endParaRPr lang="tr-T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915189"/>
                  </a:ext>
                </a:extLst>
              </a:tr>
              <a:tr h="47538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60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Ofis Kiralama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6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Eylül 2023</a:t>
                      </a:r>
                      <a:endParaRPr lang="tr-TR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tr-TR" sz="160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Adet</a:t>
                      </a:r>
                      <a:endParaRPr lang="tr-TR" sz="16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tr-TR" sz="160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10.000  TL</a:t>
                      </a:r>
                      <a:endParaRPr lang="tr-TR" sz="16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tr-TR" sz="160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10.000 TL</a:t>
                      </a:r>
                      <a:endParaRPr lang="tr-TR" sz="16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8680874"/>
                  </a:ext>
                </a:extLst>
              </a:tr>
              <a:tr h="4753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6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Şirket Kuruluş</a:t>
                      </a:r>
                      <a:endParaRPr lang="tr-T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6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Eylül 2023</a:t>
                      </a:r>
                      <a:endParaRPr lang="tr-TR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tr-TR" sz="160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Adet</a:t>
                      </a:r>
                      <a:endParaRPr lang="tr-TR" sz="16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tr-TR" sz="160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50.000  TL</a:t>
                      </a:r>
                      <a:endParaRPr lang="tr-TR" sz="16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tr-TR" sz="160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50.000 TL</a:t>
                      </a:r>
                      <a:endParaRPr lang="tr-TR" sz="16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0633756"/>
                  </a:ext>
                </a:extLst>
              </a:tr>
              <a:tr h="47538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60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Büro Mobilyası</a:t>
                      </a:r>
                      <a:endParaRPr lang="tr-TR" sz="1600" b="1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Ekim </a:t>
                      </a:r>
                      <a:r>
                        <a:rPr lang="tr-TR" sz="16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tr-TR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Adet</a:t>
                      </a:r>
                      <a:endParaRPr lang="tr-TR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6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100.000 </a:t>
                      </a:r>
                      <a:r>
                        <a:rPr lang="tr-TR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TL</a:t>
                      </a:r>
                      <a:endParaRPr lang="tr-TR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6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100.000 </a:t>
                      </a:r>
                      <a:r>
                        <a:rPr lang="tr-TR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TL</a:t>
                      </a:r>
                      <a:endParaRPr lang="tr-TR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1043030"/>
                  </a:ext>
                </a:extLst>
              </a:tr>
              <a:tr h="47538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60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Bilgisayar</a:t>
                      </a:r>
                      <a:r>
                        <a:rPr lang="tr-TR" sz="1600" b="1" kern="1200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tr-TR" sz="1600" b="1" kern="1200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tr-TR" sz="160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Kasım 2023</a:t>
                      </a:r>
                      <a:endParaRPr lang="tr-TR" sz="16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tr-TR" sz="160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 Adet</a:t>
                      </a:r>
                      <a:endParaRPr lang="tr-TR" sz="16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60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30.000 TL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tr-TR" sz="160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120.000 TL</a:t>
                      </a:r>
                      <a:endParaRPr lang="tr-TR" sz="16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1395794"/>
                  </a:ext>
                </a:extLst>
              </a:tr>
              <a:tr h="4753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6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Alt</a:t>
                      </a:r>
                      <a:r>
                        <a:rPr lang="tr-TR" sz="16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Yapı ve Erişim Maliyeti (Server)</a:t>
                      </a:r>
                      <a:endParaRPr lang="tr-T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6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Aralık 2023 / Aylık</a:t>
                      </a:r>
                      <a:endParaRPr lang="tr-TR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tr-TR" sz="160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Adet</a:t>
                      </a:r>
                      <a:endParaRPr lang="tr-TR" sz="16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60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4.472 TL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tr-TR" sz="160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4.472 TL</a:t>
                      </a:r>
                      <a:endParaRPr lang="tr-TR" sz="16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225571"/>
                  </a:ext>
                </a:extLst>
              </a:tr>
              <a:tr h="475384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tr-TR" sz="160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Yazılım Geliştirme Personeli</a:t>
                      </a:r>
                      <a:endParaRPr lang="tr-TR" sz="1600" b="1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6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Ocak</a:t>
                      </a:r>
                      <a:r>
                        <a:rPr lang="tr-TR" sz="16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tr-TR" sz="16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2024 / Aylık</a:t>
                      </a:r>
                      <a:endParaRPr lang="tr-TR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tr-TR" sz="160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 Adet</a:t>
                      </a:r>
                      <a:endParaRPr lang="tr-TR" sz="16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60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20.000 TL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tr-TR" sz="160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80.000 TL</a:t>
                      </a:r>
                      <a:endParaRPr lang="tr-TR" sz="16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0648907"/>
                  </a:ext>
                </a:extLst>
              </a:tr>
              <a:tr h="47538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60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Sistem Desteği Personeli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60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Ocak 2024 /</a:t>
                      </a:r>
                      <a:r>
                        <a:rPr lang="tr-TR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Aylık</a:t>
                      </a:r>
                      <a:endParaRPr lang="tr-TR" sz="1600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6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Adet</a:t>
                      </a:r>
                      <a:endParaRPr lang="tr-TR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6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20.000</a:t>
                      </a:r>
                      <a:r>
                        <a:rPr lang="tr-TR" sz="16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TL</a:t>
                      </a:r>
                      <a:endParaRPr lang="tr-TR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6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20.000 TL</a:t>
                      </a:r>
                      <a:endParaRPr lang="tr-TR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1893238"/>
                  </a:ext>
                </a:extLst>
              </a:tr>
              <a:tr h="47538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600" b="1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Api</a:t>
                      </a:r>
                      <a:r>
                        <a:rPr lang="tr-TR" sz="160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Entegrasyon Giderleri</a:t>
                      </a:r>
                      <a:endParaRPr lang="tr-TR" sz="1600" b="1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6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Ocak 2024</a:t>
                      </a:r>
                      <a:endParaRPr lang="tr-TR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Adet</a:t>
                      </a:r>
                      <a:endParaRPr lang="tr-TR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6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1.000 </a:t>
                      </a:r>
                      <a:r>
                        <a:rPr lang="tr-TR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TL</a:t>
                      </a:r>
                      <a:endParaRPr lang="tr-TR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6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1.000 </a:t>
                      </a:r>
                      <a:r>
                        <a:rPr lang="tr-TR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TL</a:t>
                      </a:r>
                      <a:endParaRPr lang="tr-TR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1338517"/>
                  </a:ext>
                </a:extLst>
              </a:tr>
              <a:tr h="47538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60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Tanıtım Giderleri</a:t>
                      </a:r>
                      <a:endParaRPr lang="tr-TR" sz="1600" b="1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6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Ocak 2024</a:t>
                      </a:r>
                      <a:endParaRPr lang="tr-TR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Adet</a:t>
                      </a:r>
                      <a:endParaRPr lang="tr-TR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6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20.000 </a:t>
                      </a:r>
                      <a:r>
                        <a:rPr lang="tr-TR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TL</a:t>
                      </a:r>
                      <a:endParaRPr lang="tr-TR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6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20.000 TL</a:t>
                      </a:r>
                      <a:endParaRPr lang="tr-TR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0267127"/>
                  </a:ext>
                </a:extLst>
              </a:tr>
              <a:tr h="4753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600" b="1" i="0" dirty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Toplam </a:t>
                      </a:r>
                      <a:endParaRPr lang="tr-TR" sz="2000" b="1" i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tr-TR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6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tr-TR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tr-TR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1600" b="1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405.472 </a:t>
                      </a:r>
                      <a:r>
                        <a:rPr lang="tr-TR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TL</a:t>
                      </a:r>
                      <a:endParaRPr lang="tr-TR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810243"/>
                  </a:ext>
                </a:extLst>
              </a:tr>
            </a:tbl>
          </a:graphicData>
        </a:graphic>
      </p:graphicFrame>
      <p:pic>
        <p:nvPicPr>
          <p:cNvPr id="8" name="Resi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04" y="228596"/>
            <a:ext cx="10032644" cy="715784"/>
          </a:xfrm>
          <a:prstGeom prst="rect">
            <a:avLst/>
          </a:prstGeom>
          <a:ln>
            <a:noFill/>
          </a:ln>
          <a:effectLst>
            <a:innerShdw blurRad="114300">
              <a:prstClr val="black"/>
            </a:innerShdw>
          </a:effectLst>
        </p:spPr>
      </p:pic>
      <p:sp>
        <p:nvSpPr>
          <p:cNvPr id="9" name="Dikdörtgen 8"/>
          <p:cNvSpPr/>
          <p:nvPr/>
        </p:nvSpPr>
        <p:spPr>
          <a:xfrm>
            <a:off x="2498869" y="371044"/>
            <a:ext cx="7092006" cy="43088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r-TR" sz="22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TAHMİNİ MALİYET LİSTESİ ( ŞİRKETLEŞME AŞAMASI) </a:t>
            </a:r>
            <a:endParaRPr lang="tr-TR" sz="22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66140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584" y="463639"/>
            <a:ext cx="10019762" cy="59757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15877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İyon">
  <a:themeElements>
    <a:clrScheme name="İy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İy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İy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Ağ Gözü</Template>
  <TotalTime>1763</TotalTime>
  <Words>270</Words>
  <Application>Microsoft Office PowerPoint</Application>
  <PresentationFormat>Geniş ekran</PresentationFormat>
  <Paragraphs>95</Paragraphs>
  <Slides>19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2</vt:i4>
      </vt:variant>
      <vt:variant>
        <vt:lpstr>Slayt Başlıkları</vt:lpstr>
      </vt:variant>
      <vt:variant>
        <vt:i4>19</vt:i4>
      </vt:variant>
    </vt:vector>
  </HeadingPairs>
  <TitlesOfParts>
    <vt:vector size="27" baseType="lpstr">
      <vt:lpstr>Arial</vt:lpstr>
      <vt:lpstr>Calibri</vt:lpstr>
      <vt:lpstr>Calibri Light</vt:lpstr>
      <vt:lpstr>Century Gothic</vt:lpstr>
      <vt:lpstr>Times New Roman</vt:lpstr>
      <vt:lpstr>Wingdings 3</vt:lpstr>
      <vt:lpstr>İyon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İbrahim Demirli</dc:creator>
  <cp:lastModifiedBy>Demirli</cp:lastModifiedBy>
  <cp:revision>215</cp:revision>
  <dcterms:created xsi:type="dcterms:W3CDTF">2023-04-01T19:14:42Z</dcterms:created>
  <dcterms:modified xsi:type="dcterms:W3CDTF">2026-03-02T19:47:13Z</dcterms:modified>
</cp:coreProperties>
</file>